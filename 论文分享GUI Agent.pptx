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329" r:id="rId3"/>
    <p:sldId id="292" r:id="rId4"/>
    <p:sldId id="330" r:id="rId5"/>
    <p:sldId id="331" r:id="rId6"/>
    <p:sldId id="288" r:id="rId7"/>
    <p:sldId id="296" r:id="rId8"/>
    <p:sldId id="332" r:id="rId9"/>
    <p:sldId id="320" r:id="rId10"/>
    <p:sldId id="312" r:id="rId11"/>
    <p:sldId id="333" r:id="rId12"/>
    <p:sldId id="334" r:id="rId13"/>
    <p:sldId id="335" r:id="rId14"/>
    <p:sldId id="336" r:id="rId15"/>
    <p:sldId id="325" r:id="rId16"/>
    <p:sldId id="337" r:id="rId17"/>
    <p:sldId id="33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EEC"/>
    <a:srgbClr val="50B37B"/>
    <a:srgbClr val="FFA503"/>
    <a:srgbClr val="1F9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/>
    <p:restoredTop sz="94552"/>
  </p:normalViewPr>
  <p:slideViewPr>
    <p:cSldViewPr snapToGrid="0">
      <p:cViewPr varScale="1">
        <p:scale>
          <a:sx n="156" d="100"/>
          <a:sy n="156" d="100"/>
        </p:scale>
        <p:origin x="4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C1FBC-7CE7-B649-9305-8D2FA872243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F57AC-3938-DF4E-AFE7-1CF243B7245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4747-B564-C346-B132-61F275DFF1B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9EA8-27B9-6549-9158-D9E776BB7D2A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FBF6-A9E9-7A46-B8E5-122C9EC5AB5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21A50-C9A1-4F49-AF5A-F7FF7C8CBDD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CD20-22E3-4648-AA81-17BBE21DEC2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149EE-EC19-DE41-8F75-018552C2639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FA0E-08EA-9D4A-AD5B-6D5C0D85401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5CB8-F24B-7A4E-A99D-F91EDDCEE36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7B5-6B66-704C-A013-56DC4BB3920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0957-39EE-3D4F-8E13-4BCA376A940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94C42-6998-FA4F-8E7D-9A27FFB7673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5FAEE-69BE-AB42-BEC6-A4A41BDBFE0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https://arxiv.org/pdf/2510.20286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8650" y="4000870"/>
            <a:ext cx="24942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Paper</a:t>
            </a:r>
            <a:r>
              <a:rPr lang="zh-CN" alt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 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Reading</a:t>
            </a:r>
            <a:endParaRPr lang="en-US" altLang="zh-CN" sz="2800" dirty="0">
              <a:latin typeface="Gill Sans MT" panose="020B0502020104020203" pitchFamily="34" charset="0"/>
              <a:ea typeface="等线" panose="02010600030101010101" pitchFamily="2" charset="-122"/>
            </a:endParaRPr>
          </a:p>
          <a:p>
            <a:r>
              <a:rPr 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20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25</a:t>
            </a:r>
            <a:r>
              <a:rPr 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-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12</a:t>
            </a:r>
            <a:r>
              <a:rPr 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-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25</a:t>
            </a:r>
            <a:endParaRPr lang="en-US" sz="2800" dirty="0">
              <a:latin typeface="Gill Sans MT" panose="020B0502020104020203" pitchFamily="34" charset="0"/>
              <a:ea typeface="等线" panose="02010600030101010101" pitchFamily="2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39510" y="5111434"/>
            <a:ext cx="71402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Paper</a:t>
            </a:r>
            <a:r>
              <a:rPr lang="zh-CN" alt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 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URL:</a:t>
            </a:r>
            <a:r>
              <a:rPr lang="zh-CN" alt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 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  <a:hlinkClick r:id="rId1"/>
              </a:rPr>
              <a:t>https://arxiv.org/pdf/2510.20286</a:t>
            </a:r>
            <a:endParaRPr lang="en-US" altLang="zh-CN" sz="2800" dirty="0">
              <a:latin typeface="Gill Sans MT" panose="020B0502020104020203" pitchFamily="34" charset="0"/>
              <a:ea typeface="等线" panose="02010600030101010101" pitchFamily="2" charset="-122"/>
            </a:endParaRPr>
          </a:p>
          <a:p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ICLR</a:t>
            </a:r>
            <a:r>
              <a:rPr lang="en-GB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 2026</a:t>
            </a:r>
            <a:r>
              <a:rPr lang="zh-CN" altLang="en-US" sz="2800" dirty="0">
                <a:latin typeface="Gill Sans MT" panose="020B0502020104020203" pitchFamily="34" charset="0"/>
                <a:ea typeface="等线" panose="02010600030101010101" pitchFamily="2" charset="-122"/>
              </a:rPr>
              <a:t> </a:t>
            </a:r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Under Review: 2 6 6 6</a:t>
            </a:r>
            <a:endParaRPr lang="en-US" altLang="zh-CN" sz="2800" dirty="0">
              <a:latin typeface="Gill Sans MT" panose="020B0502020104020203" pitchFamily="34" charset="0"/>
              <a:ea typeface="等线" panose="02010600030101010101" pitchFamily="2" charset="-122"/>
            </a:endParaRPr>
          </a:p>
          <a:p>
            <a:r>
              <a:rPr lang="en-US" altLang="zh-CN" sz="2800" dirty="0">
                <a:latin typeface="Gill Sans MT" panose="020B0502020104020203" pitchFamily="34" charset="0"/>
                <a:ea typeface="等线" panose="02010600030101010101" pitchFamily="2" charset="-122"/>
              </a:rPr>
              <a:t>https://openreview.net/forum?id=dsQHm7YX9c</a:t>
            </a:r>
            <a:endParaRPr lang="en-GB" altLang="zh-CN" sz="2800" dirty="0">
              <a:latin typeface="Gill Sans MT" panose="020B0502020104020203" pitchFamily="34" charset="0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10" y="478471"/>
            <a:ext cx="6520121" cy="232196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39510" y="3028890"/>
            <a:ext cx="119212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Lucida Grande"/>
              </a:rPr>
              <a:t>UI-Ins: Enhancing GUI Grounding with Multi-Perspective Instruction-as-Reasoning</a:t>
            </a:r>
            <a:endParaRPr lang="en-US" altLang="zh-CN" sz="2000" b="1" i="0" dirty="0">
              <a:solidFill>
                <a:srgbClr val="FF0000"/>
              </a:solidFill>
              <a:effectLst/>
              <a:latin typeface="Lucida Gran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4713" y="-326777"/>
            <a:ext cx="3014609" cy="1325563"/>
          </a:xfrm>
        </p:spPr>
        <p:txBody>
          <a:bodyPr/>
          <a:lstStyle/>
          <a:p>
            <a:r>
              <a:rPr lang="en-US" dirty="0">
                <a:latin typeface="+mn-lt"/>
              </a:rPr>
              <a:t>Paper Card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>
            <p:ph idx="1"/>
          </p:nvPr>
        </p:nvGraphicFramePr>
        <p:xfrm>
          <a:off x="162338" y="747395"/>
          <a:ext cx="11191462" cy="5974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1604"/>
                <a:gridCol w="8909858"/>
              </a:tblGrid>
              <a:tr h="8595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Problem</a:t>
                      </a:r>
                      <a:endParaRPr lang="en-US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 grounding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任务：给一张界面截图和一条自然语言指令，让模型在屏幕上找出应该操作的那个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元素（用坐标或框表示）。以往工作几乎都把“指令”当成一个静态的文本输入，没有认真考虑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指令表达方式是否多样（比如描述外观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功能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位置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意图）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zh-CN" altLang="en-US" sz="1600" dirty="0"/>
                        <a:t>指令本身</a:t>
                      </a:r>
                      <a:r>
                        <a:rPr lang="zh-CN" altLang="en-US" sz="1600" b="0" dirty="0">
                          <a:effectLst/>
                        </a:rPr>
                        <a:t>有没有问题</a:t>
                      </a:r>
                      <a:r>
                        <a:rPr lang="zh-CN" altLang="en-US" sz="1600" dirty="0"/>
                        <a:t>（含糊、错指、和标注不一致）</a:t>
                      </a:r>
                      <a:endParaRPr lang="en-US" altLang="zh-C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225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Motivation</a:t>
                      </a:r>
                      <a:endParaRPr lang="en-US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检查现有的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 grounding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数据集，发现大约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23.3%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指令存在缺陷（比如描述不清或完全对不上目标元素），这些噪声会严重影响模型训练。同时发现：仅仅在推理阶段“换几种不同风格的指令描述”，就可以在不用额外训练的情况下，让模型的性能相对提升最高可达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76%——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说明“指令多样性”本身就是一个巨大的潜力点。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797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 Idea</a:t>
                      </a:r>
                      <a:endParaRPr lang="en-US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提出 </a:t>
                      </a:r>
                      <a:r>
                        <a:rPr lang="en-US" altLang="zh-CN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Instruction-as-Reasoning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范式，并设计了一个两阶段训练框架：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SFT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阶段：在他们合成的一批“多视角指令数据”上训练模型，让模型先学会从不同视角生成中间推理文本（相当于“用某个视角重述指令”），然后再输出坐标。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阶段（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GRPO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）：在此基础上，利用奖励信号（预测点是否落在标注框内）来优化模型，让模型自己学会在不同情境下选择和组合最有效的推理视角。</a:t>
                      </a:r>
                      <a:endParaRPr lang="zh-CN" alt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1978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Technical Details</a:t>
                      </a:r>
                      <a:endParaRPr lang="en-US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四个视角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1600" dirty="0"/>
                        <a:t>外观视角、功能视角、空间视角、目标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意图视角</a:t>
                      </a:r>
                      <a:endParaRPr lang="en-US" altLang="zh-CN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：对于每条样本，从四种视角中随机采样一个作为“推理文本的视角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RL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：如果预测点落在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GT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标注框内，奖励为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，否则为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model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Qwen2.5-VL-7B • Qwen2.5-VL-32B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SFT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约 </a:t>
                      </a: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283k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条训练样本，每条样本中，从四种视角中随机挑选两个不同视角，</a:t>
                      </a:r>
                      <a:r>
                        <a:rPr lang="zh-CN" altLang="en-US" sz="1600" dirty="0"/>
                        <a:t>一个用作“指令视角”（展示给模型的用户指令），另一个用作“推理视角”（模型在 </a:t>
                      </a:r>
                      <a:r>
                        <a:rPr lang="en-US" altLang="zh-CN" sz="1600" dirty="0"/>
                        <a:t>&lt;think&gt; </a:t>
                      </a:r>
                      <a:r>
                        <a:rPr lang="zh-CN" altLang="en-US" sz="1600" dirty="0"/>
                        <a:t>中要生成的那种重写指令）</a:t>
                      </a:r>
                      <a:endParaRPr lang="en-US" altLang="zh-CN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RL</a:t>
                      </a:r>
                      <a:r>
                        <a:rPr lang="zh-CN" altLang="en-US" sz="1600" dirty="0"/>
                        <a:t>使用约 </a:t>
                      </a:r>
                      <a:r>
                        <a:rPr lang="en-US" altLang="zh-CN" sz="1600" dirty="0"/>
                        <a:t>33k </a:t>
                      </a:r>
                      <a:r>
                        <a:rPr lang="zh-CN" altLang="en-US" sz="1600" dirty="0"/>
                        <a:t>条基础实例，并根据多视角扩展到约 </a:t>
                      </a:r>
                      <a:r>
                        <a:rPr lang="en-US" altLang="zh-CN" sz="1600" dirty="0"/>
                        <a:t>100k </a:t>
                      </a:r>
                      <a:r>
                        <a:rPr lang="zh-CN" altLang="en-US" sz="1600" dirty="0"/>
                        <a:t>条 </a:t>
                      </a:r>
                      <a:r>
                        <a:rPr lang="en-US" altLang="zh-CN" sz="1600" dirty="0"/>
                        <a:t>RL </a:t>
                      </a:r>
                      <a:r>
                        <a:rPr lang="zh-CN" altLang="en-US" sz="1600" dirty="0"/>
                        <a:t>样本，对每条样本不再规定视角，只给任务与截图，让模型自发“思考 </a:t>
                      </a:r>
                      <a:r>
                        <a:rPr lang="en-US" altLang="zh-CN" sz="1600" dirty="0"/>
                        <a:t>+ </a:t>
                      </a:r>
                      <a:r>
                        <a:rPr lang="zh-CN" altLang="en-US" sz="1600" dirty="0"/>
                        <a:t>输出坐标”</a:t>
                      </a:r>
                      <a:endParaRPr lang="en-US" altLang="zh-C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altLang="zh-CN" dirty="0"/>
              <a:t>ackground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8733" y="1073603"/>
            <a:ext cx="5452895" cy="504596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8851" y="1553061"/>
            <a:ext cx="11772777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四个视角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endParaRPr lang="en-US" altLang="zh-CN" sz="700" b="1" dirty="0">
              <a:solidFill>
                <a:srgbClr val="FF0000"/>
              </a:solidFill>
            </a:endParaRPr>
          </a:p>
          <a:p>
            <a:r>
              <a:rPr lang="en-US" altLang="zh-CN" sz="1400" b="1" dirty="0">
                <a:solidFill>
                  <a:srgbClr val="0070C0"/>
                </a:solidFill>
              </a:rPr>
              <a:t>Appearance</a:t>
            </a:r>
            <a:r>
              <a:rPr lang="zh-CN" altLang="en-US" sz="1400" b="1" dirty="0">
                <a:solidFill>
                  <a:srgbClr val="0070C0"/>
                </a:solidFill>
              </a:rPr>
              <a:t>（外观视角）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The icon looks like a picture.</a:t>
            </a:r>
            <a:endParaRPr lang="en-US" altLang="zh-CN" sz="1400" b="1" dirty="0"/>
          </a:p>
          <a:p>
            <a:r>
              <a:rPr lang="zh-CN" altLang="en-US" sz="1400" b="1" dirty="0"/>
              <a:t>不说它“干什么”</a:t>
            </a:r>
            <a:endParaRPr lang="en-US" altLang="zh-CN" sz="1400" b="1" dirty="0"/>
          </a:p>
          <a:p>
            <a:r>
              <a:rPr lang="zh-CN" altLang="en-US" sz="1400" b="1" dirty="0"/>
              <a:t>不说它“在哪”</a:t>
            </a:r>
            <a:endParaRPr lang="en-US" altLang="zh-CN" sz="1400" b="1" dirty="0"/>
          </a:p>
          <a:p>
            <a:r>
              <a:rPr lang="zh-CN" altLang="en-US" sz="1400" b="1" dirty="0"/>
              <a:t>只描述外观特征（像图片、像齿轮、是圆形、是蓝色等）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0070C0"/>
                </a:solidFill>
              </a:rPr>
              <a:t>Functionality</a:t>
            </a:r>
            <a:r>
              <a:rPr lang="zh-CN" altLang="en-US" sz="1400" b="1" dirty="0">
                <a:solidFill>
                  <a:srgbClr val="0070C0"/>
                </a:solidFill>
              </a:rPr>
              <a:t>（功能视角）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Close the file manager window.</a:t>
            </a:r>
            <a:endParaRPr lang="en-US" altLang="zh-CN" sz="1400" b="1" dirty="0"/>
          </a:p>
          <a:p>
            <a:r>
              <a:rPr lang="zh-CN" altLang="en-US" sz="1400" b="1" dirty="0"/>
              <a:t>不描述图标外观</a:t>
            </a:r>
            <a:endParaRPr lang="en-US" altLang="zh-CN" sz="1400" b="1" dirty="0"/>
          </a:p>
          <a:p>
            <a:r>
              <a:rPr lang="zh-CN" altLang="en-US" sz="1400" b="1" dirty="0"/>
              <a:t>不描述位置</a:t>
            </a:r>
            <a:endParaRPr lang="en-US" altLang="zh-CN" sz="1400" b="1" dirty="0"/>
          </a:p>
          <a:p>
            <a:r>
              <a:rPr lang="zh-CN" altLang="en-US" sz="1400" b="1" dirty="0"/>
              <a:t>直接说这个按钮的功能</a:t>
            </a:r>
            <a:endParaRPr lang="en-US" altLang="zh-CN" sz="1400" b="1" dirty="0"/>
          </a:p>
          <a:p>
            <a:endParaRPr lang="en-GB" altLang="zh-CN" sz="1400" b="1" dirty="0"/>
          </a:p>
          <a:p>
            <a:r>
              <a:rPr lang="en-US" altLang="zh-CN" sz="1400" b="1" dirty="0">
                <a:solidFill>
                  <a:srgbClr val="0070C0"/>
                </a:solidFill>
              </a:rPr>
              <a:t>Location</a:t>
            </a:r>
            <a:r>
              <a:rPr lang="zh-CN" altLang="en-US" sz="1400" b="1" dirty="0">
                <a:solidFill>
                  <a:srgbClr val="0070C0"/>
                </a:solidFill>
              </a:rPr>
              <a:t>（位置 </a:t>
            </a:r>
            <a:r>
              <a:rPr lang="en-US" altLang="zh-CN" sz="1400" b="1" dirty="0">
                <a:solidFill>
                  <a:srgbClr val="0070C0"/>
                </a:solidFill>
              </a:rPr>
              <a:t>/ </a:t>
            </a:r>
            <a:r>
              <a:rPr lang="zh-CN" altLang="en-US" sz="1400" b="1" dirty="0">
                <a:solidFill>
                  <a:srgbClr val="0070C0"/>
                </a:solidFill>
              </a:rPr>
              <a:t>上下文视角）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Edit line after the </a:t>
            </a:r>
            <a:r>
              <a:rPr lang="en-US" altLang="zh-CN" sz="1400" b="1" dirty="0" err="1"/>
              <a:t>addDefault</a:t>
            </a:r>
            <a:r>
              <a:rPr lang="en-US" altLang="zh-CN" sz="1400" b="1" dirty="0"/>
              <a:t> function.</a:t>
            </a:r>
            <a:endParaRPr lang="en-US" altLang="zh-CN" sz="1400" b="1" dirty="0"/>
          </a:p>
          <a:p>
            <a:r>
              <a:rPr lang="zh-CN" altLang="en-US" sz="1400" b="1" dirty="0"/>
              <a:t>目标不是一个“按钮”</a:t>
            </a:r>
            <a:endParaRPr lang="en-US" altLang="zh-CN" sz="1400" b="1" dirty="0"/>
          </a:p>
          <a:p>
            <a:r>
              <a:rPr lang="zh-CN" altLang="en-US" sz="1400" b="1" dirty="0"/>
              <a:t>而是 编辑位置 </a:t>
            </a:r>
            <a:r>
              <a:rPr lang="en-US" altLang="zh-CN" sz="1400" b="1" dirty="0"/>
              <a:t>/ </a:t>
            </a:r>
            <a:r>
              <a:rPr lang="zh-CN" altLang="en-US" sz="1400" b="1" dirty="0"/>
              <a:t>文本区域</a:t>
            </a:r>
            <a:endParaRPr lang="en-US" altLang="zh-CN" sz="1400" b="1" dirty="0"/>
          </a:p>
          <a:p>
            <a:r>
              <a:rPr lang="zh-CN" altLang="en-US" sz="1400" b="1" dirty="0"/>
              <a:t>用 上下文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相对位置 描述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0070C0"/>
                </a:solidFill>
              </a:rPr>
              <a:t>Intent</a:t>
            </a:r>
            <a:r>
              <a:rPr lang="zh-CN" altLang="en-US" sz="1400" b="1" dirty="0">
                <a:solidFill>
                  <a:srgbClr val="0070C0"/>
                </a:solidFill>
              </a:rPr>
              <a:t>（用户意图视角）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Mute all the system sound.</a:t>
            </a:r>
            <a:endParaRPr lang="en-US" altLang="zh-CN" sz="1400" b="1" dirty="0"/>
          </a:p>
          <a:p>
            <a:r>
              <a:rPr lang="zh-CN" altLang="en-US" sz="1400" b="1" dirty="0"/>
              <a:t>不说按钮名字</a:t>
            </a:r>
            <a:endParaRPr lang="en-US" altLang="zh-CN" sz="1400" b="1" dirty="0"/>
          </a:p>
          <a:p>
            <a:r>
              <a:rPr lang="zh-CN" altLang="en-US" sz="1400" b="1" dirty="0"/>
              <a:t>不说外观</a:t>
            </a:r>
            <a:endParaRPr lang="en-US" altLang="zh-CN" sz="1400" b="1" dirty="0"/>
          </a:p>
          <a:p>
            <a:r>
              <a:rPr lang="zh-CN" altLang="en-US" sz="1400" b="1" dirty="0"/>
              <a:t>只给最终目标</a:t>
            </a:r>
            <a:endParaRPr lang="en-US" altLang="zh-CN" sz="1400" b="1" dirty="0"/>
          </a:p>
          <a:p>
            <a:endParaRPr lang="en-GB" altLang="zh-CN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altLang="zh-CN" dirty="0"/>
              <a:t>ackground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011" y="1596118"/>
            <a:ext cx="4611177" cy="425323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8851" y="1553061"/>
            <a:ext cx="11772777" cy="426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歧义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7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/>
              <a:t>1. Ambiguous Instruction</a:t>
            </a:r>
            <a:r>
              <a:rPr lang="zh-CN" altLang="en-US" sz="1400" b="1" dirty="0"/>
              <a:t>（指令歧义）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rgbClr val="0070C0"/>
                </a:solidFill>
              </a:rPr>
              <a:t>Check how many people have interacted with the article.</a:t>
            </a:r>
            <a:endParaRPr lang="en-US" altLang="zh-CN" sz="1400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多个“数字”都满足这句话：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👍 点赞数（</a:t>
            </a:r>
            <a:r>
              <a:rPr lang="en-US" altLang="zh-CN" sz="1400" b="1" dirty="0"/>
              <a:t>Like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💬 评论数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🔁 分享数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👁 浏览数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用 ⭐ 标出目标，画了一个框，但不止一个 </a:t>
            </a:r>
            <a:r>
              <a:rPr lang="en-US" altLang="zh-CN" sz="1400" b="1" dirty="0"/>
              <a:t>UI </a:t>
            </a:r>
            <a:r>
              <a:rPr lang="zh-CN" altLang="en-US" sz="1400" b="1" dirty="0"/>
              <a:t>元素“合理匹配”这条指令。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en-GB" altLang="zh-CN" sz="1400" b="1" dirty="0"/>
              <a:t>2. </a:t>
            </a:r>
            <a:r>
              <a:rPr lang="en-US" altLang="zh-CN" sz="1400" b="1" dirty="0"/>
              <a:t>Mismatch Instruction</a:t>
            </a:r>
            <a:r>
              <a:rPr lang="zh-CN" altLang="en-US" sz="1400" b="1" dirty="0"/>
              <a:t>（完全不匹配）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rgbClr val="0070C0"/>
                </a:solidFill>
              </a:rPr>
              <a:t>The red square indicates the active slide.</a:t>
            </a:r>
            <a:endParaRPr lang="en-US" altLang="zh-CN" sz="1400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/>
              <a:t>UI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LOOKFANTASTIC </a:t>
            </a:r>
            <a:r>
              <a:rPr lang="zh-CN" altLang="en-US" sz="1400" b="1" dirty="0"/>
              <a:t>页面）：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页面中 根本没有红色方块</a:t>
            </a:r>
            <a:endParaRPr lang="en-US" altLang="zh-CN" sz="1400" b="1" dirty="0"/>
          </a:p>
          <a:p>
            <a:pPr>
              <a:lnSpc>
                <a:spcPct val="120000"/>
              </a:lnSpc>
            </a:pPr>
            <a:r>
              <a:rPr lang="zh-CN" altLang="en-US" sz="1400" b="1" dirty="0"/>
              <a:t>也不存在“</a:t>
            </a:r>
            <a:r>
              <a:rPr lang="en-US" altLang="zh-CN" sz="1400" b="1" dirty="0"/>
              <a:t>slide </a:t>
            </a:r>
            <a:r>
              <a:rPr lang="zh-CN" altLang="en-US" sz="1400" b="1" dirty="0"/>
              <a:t>指示器”的视觉或语义对应</a:t>
            </a:r>
            <a:endParaRPr lang="en-GB" altLang="zh-CN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US" altLang="zh-CN" dirty="0"/>
              <a:t>ackground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261379" y="4003325"/>
            <a:ext cx="117727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(a) 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/>
              <a:t>单一类型指令效果有限，仅描述位置（</a:t>
            </a:r>
            <a:r>
              <a:rPr lang="en-US" altLang="zh-CN" sz="1600" b="1" dirty="0"/>
              <a:t>Location</a:t>
            </a:r>
            <a:r>
              <a:rPr lang="zh-CN" altLang="en-US" sz="1600" b="1" dirty="0"/>
              <a:t>）或意图（</a:t>
            </a:r>
            <a:r>
              <a:rPr lang="en-US" altLang="zh-CN" sz="1600" b="1" dirty="0"/>
              <a:t>Intent</a:t>
            </a:r>
            <a:r>
              <a:rPr lang="zh-CN" altLang="en-US" sz="1600" b="1" dirty="0"/>
              <a:t>）时，模型表现较差。</a:t>
            </a:r>
            <a:endParaRPr lang="en-GB" altLang="zh-CN" sz="1600" b="1" dirty="0"/>
          </a:p>
          <a:p>
            <a:r>
              <a:rPr lang="zh-CN" altLang="en-US" sz="1600" b="1" dirty="0"/>
              <a:t>信息越丰富，性能越好，</a:t>
            </a:r>
            <a:r>
              <a:rPr lang="en-US" altLang="zh-CN" sz="1600" b="1" dirty="0"/>
              <a:t>Appearance</a:t>
            </a:r>
            <a:r>
              <a:rPr lang="zh-CN" altLang="en-US" sz="1600" b="1" dirty="0"/>
              <a:t>（颜色、形状、图标等）已经明显优于基础指令</a:t>
            </a:r>
            <a:endParaRPr lang="en-US" altLang="zh-CN" sz="1600" b="1" dirty="0"/>
          </a:p>
          <a:p>
            <a:r>
              <a:rPr lang="zh-CN" altLang="en-US" sz="1600" b="1" dirty="0"/>
              <a:t>组合型指令效果最好，同时包含 功能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外观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位置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意图 的指令，性能提升最显著。</a:t>
            </a:r>
            <a:endParaRPr lang="en-US" altLang="zh-CN" sz="1600" b="1" dirty="0"/>
          </a:p>
          <a:p>
            <a:r>
              <a:rPr lang="en-US" altLang="zh-CN" sz="1600" b="1" dirty="0">
                <a:solidFill>
                  <a:srgbClr val="FF0000"/>
                </a:solidFill>
              </a:rPr>
              <a:t>(b)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/>
              <a:t>将近 </a:t>
            </a:r>
            <a:r>
              <a:rPr lang="en-US" altLang="zh-CN" sz="1600" b="1" dirty="0"/>
              <a:t>1/4 </a:t>
            </a:r>
            <a:r>
              <a:rPr lang="zh-CN" altLang="en-US" sz="1600" b="1" dirty="0"/>
              <a:t>的指令存在质量问题，指令描述的元素和标注的目标根本不一致，或者指令本身不清楚，多个元素都“说得通”，在训练 </a:t>
            </a:r>
            <a:r>
              <a:rPr lang="en-US" altLang="zh-CN" sz="1600" b="1" dirty="0"/>
              <a:t>GUI Agent / Grounding </a:t>
            </a:r>
            <a:r>
              <a:rPr lang="zh-CN" altLang="en-US" sz="1600" b="1" dirty="0"/>
              <a:t>模型时噪声来源。</a:t>
            </a:r>
            <a:endParaRPr lang="en-US" altLang="zh-CN" sz="1600" b="1" dirty="0"/>
          </a:p>
          <a:p>
            <a:r>
              <a:rPr lang="en-US" altLang="zh-CN" sz="1600" b="1" dirty="0">
                <a:solidFill>
                  <a:srgbClr val="FF0000"/>
                </a:solidFill>
              </a:rPr>
              <a:t>(c)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zh-CN" altLang="en-US" sz="1600" b="1" dirty="0"/>
              <a:t>只做“指令质量清洗”，模型性能就能显著提升，不需要改模型结构。</a:t>
            </a:r>
            <a:endParaRPr lang="en-GB" altLang="zh-CN" sz="16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809" y="1337343"/>
            <a:ext cx="5835981" cy="26659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en-GB" altLang="zh-CN" dirty="0"/>
              <a:t> </a:t>
            </a:r>
            <a:r>
              <a:rPr lang="en-US" altLang="zh-CN" dirty="0"/>
              <a:t>Instruction Augmentation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072" y="1655633"/>
            <a:ext cx="7029450" cy="244502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5943" y="4182940"/>
            <a:ext cx="1112922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原始 </a:t>
            </a:r>
            <a:r>
              <a:rPr lang="en-US" altLang="zh-CN" sz="1600" b="1" dirty="0" err="1">
                <a:solidFill>
                  <a:srgbClr val="FF0000"/>
                </a:solidFill>
              </a:rPr>
              <a:t>bbox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→ </a:t>
            </a:r>
            <a:r>
              <a:rPr lang="en-US" altLang="zh-CN" sz="1600" b="1" dirty="0" err="1">
                <a:solidFill>
                  <a:srgbClr val="FF0000"/>
                </a:solidFill>
              </a:rPr>
              <a:t>bbox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清洗与修正 → 可信 </a:t>
            </a:r>
            <a:r>
              <a:rPr lang="en-US" altLang="zh-CN" sz="1600" b="1" dirty="0" err="1">
                <a:solidFill>
                  <a:srgbClr val="FF0000"/>
                </a:solidFill>
              </a:rPr>
              <a:t>bbox</a:t>
            </a:r>
            <a:r>
              <a:rPr lang="en-US" altLang="zh-CN" sz="1600" b="1" dirty="0">
                <a:solidFill>
                  <a:srgbClr val="FF0000"/>
                </a:solidFill>
              </a:rPr>
              <a:t> + </a:t>
            </a:r>
            <a:r>
              <a:rPr lang="zh-CN" altLang="en-US" sz="1600" b="1" dirty="0">
                <a:solidFill>
                  <a:srgbClr val="FF0000"/>
                </a:solidFill>
              </a:rPr>
              <a:t>原始指令 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→ 多视角指令生成（</a:t>
            </a:r>
            <a:r>
              <a:rPr lang="en-US" altLang="zh-CN" sz="1600" b="1" dirty="0">
                <a:solidFill>
                  <a:srgbClr val="FF0000"/>
                </a:solidFill>
              </a:rPr>
              <a:t>GPT-4.1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→ 指令</a:t>
            </a:r>
            <a:r>
              <a:rPr lang="en-US" altLang="zh-CN" sz="1600" b="1" dirty="0">
                <a:solidFill>
                  <a:srgbClr val="FF0000"/>
                </a:solidFill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</a:rPr>
              <a:t>框一致性验证 → 高质量多视角 </a:t>
            </a:r>
            <a:r>
              <a:rPr lang="en-US" altLang="zh-CN" sz="1600" b="1" dirty="0">
                <a:solidFill>
                  <a:srgbClr val="FF0000"/>
                </a:solidFill>
              </a:rPr>
              <a:t>grounding </a:t>
            </a:r>
            <a:r>
              <a:rPr lang="zh-CN" altLang="en-US" sz="1600" b="1" dirty="0">
                <a:solidFill>
                  <a:srgbClr val="FF0000"/>
                </a:solidFill>
              </a:rPr>
              <a:t>数据集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endParaRPr lang="en-US" altLang="zh-CN" sz="16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600" b="1" dirty="0" err="1"/>
              <a:t>OmniParser</a:t>
            </a:r>
            <a:r>
              <a:rPr lang="en-US" altLang="zh-CN" sz="1600" b="1" dirty="0"/>
              <a:t> detect</a:t>
            </a:r>
            <a:r>
              <a:rPr lang="zh-CN" altLang="en-US" sz="1600" b="1" dirty="0"/>
              <a:t>：对整张 </a:t>
            </a:r>
            <a:r>
              <a:rPr lang="en-US" altLang="zh-CN" sz="1600" b="1" dirty="0"/>
              <a:t>UI </a:t>
            </a:r>
            <a:r>
              <a:rPr lang="zh-CN" altLang="en-US" sz="1600" b="1" dirty="0"/>
              <a:t>截图，检测所有 </a:t>
            </a:r>
            <a:r>
              <a:rPr lang="en-US" altLang="zh-CN" sz="1600" b="1" dirty="0"/>
              <a:t>UI </a:t>
            </a:r>
            <a:r>
              <a:rPr lang="zh-CN" altLang="en-US" sz="1600" b="1" dirty="0"/>
              <a:t>元素（按钮 </a:t>
            </a:r>
            <a:r>
              <a:rPr lang="en-US" altLang="zh-CN" sz="1600" b="1" dirty="0"/>
              <a:t>/ </a:t>
            </a:r>
            <a:r>
              <a:rPr lang="zh-CN" altLang="en-US" sz="1600" b="1" dirty="0"/>
              <a:t>图标 </a:t>
            </a:r>
            <a:r>
              <a:rPr lang="en-US" altLang="zh-CN" sz="1600" b="1" dirty="0"/>
              <a:t>/ </a:t>
            </a:r>
            <a:r>
              <a:rPr lang="zh-CN" altLang="en-US" sz="1600" b="1" dirty="0"/>
              <a:t>文本区域 </a:t>
            </a:r>
            <a:r>
              <a:rPr lang="en-US" altLang="zh-CN" sz="1600" b="1" dirty="0"/>
              <a:t>/ </a:t>
            </a:r>
            <a:r>
              <a:rPr lang="zh-CN" altLang="en-US" sz="1600" b="1" dirty="0"/>
              <a:t>开关），得到 “候选 </a:t>
            </a:r>
            <a:r>
              <a:rPr lang="en-US" altLang="zh-CN" sz="1600" b="1" dirty="0" err="1"/>
              <a:t>bbox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集合”；</a:t>
            </a:r>
            <a:endParaRPr lang="en-US" altLang="zh-CN" sz="1600" b="1" dirty="0"/>
          </a:p>
          <a:p>
            <a:pPr marL="342900" indent="-342900">
              <a:buAutoNum type="arabicPeriod"/>
            </a:pPr>
            <a:r>
              <a:rPr lang="zh-CN" altLang="en-US" sz="1600" b="1" dirty="0"/>
              <a:t>把原始数据集里的 </a:t>
            </a:r>
            <a:r>
              <a:rPr lang="en-US" altLang="zh-CN" sz="1600" b="1" dirty="0"/>
              <a:t>GT </a:t>
            </a:r>
            <a:r>
              <a:rPr lang="en-US" altLang="zh-CN" sz="1600" b="1" dirty="0" err="1"/>
              <a:t>bbox</a:t>
            </a:r>
            <a:r>
              <a:rPr lang="zh-CN" altLang="en-US" sz="1600" b="1" dirty="0"/>
              <a:t>和 </a:t>
            </a:r>
            <a:r>
              <a:rPr lang="en-US" altLang="zh-CN" sz="1600" b="1" dirty="0" err="1"/>
              <a:t>OmniParser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检测到的 </a:t>
            </a:r>
            <a:r>
              <a:rPr lang="en-US" altLang="zh-CN" sz="1600" b="1" dirty="0" err="1"/>
              <a:t>bbox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做 </a:t>
            </a:r>
            <a:r>
              <a:rPr lang="en-US" altLang="zh-CN" sz="1600" b="1" dirty="0" err="1"/>
              <a:t>IoU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匹配，用检测框 替换 </a:t>
            </a:r>
            <a:r>
              <a:rPr lang="en-US" altLang="zh-CN" sz="1600" b="1" dirty="0"/>
              <a:t>/ </a:t>
            </a:r>
            <a:r>
              <a:rPr lang="zh-CN" altLang="en-US" sz="1600" b="1" dirty="0"/>
              <a:t>修正 原始 </a:t>
            </a:r>
            <a:r>
              <a:rPr lang="en-US" altLang="zh-CN" sz="1600" b="1" dirty="0"/>
              <a:t>GT </a:t>
            </a:r>
            <a:r>
              <a:rPr lang="zh-CN" altLang="en-US" sz="1600" b="1" dirty="0"/>
              <a:t>框；</a:t>
            </a:r>
            <a:endParaRPr lang="en-US" altLang="zh-CN" sz="1600" b="1" dirty="0"/>
          </a:p>
          <a:p>
            <a:pPr marL="342900" indent="-342900">
              <a:buAutoNum type="arabicPeriod"/>
            </a:pPr>
            <a:r>
              <a:rPr lang="en-US" altLang="zh-CN" sz="1600" b="1" dirty="0"/>
              <a:t>Instruction Augmentation</a:t>
            </a:r>
            <a:r>
              <a:rPr lang="zh-CN" altLang="en-US" sz="1600" b="1" dirty="0"/>
              <a:t>：构造输入（</a:t>
            </a:r>
            <a:r>
              <a:rPr lang="zh-CN" altLang="en-US" sz="1600" dirty="0"/>
              <a:t>截图、原始指令、目标 </a:t>
            </a:r>
            <a:r>
              <a:rPr lang="en-US" altLang="zh-CN" sz="1600" dirty="0" err="1"/>
              <a:t>bbox</a:t>
            </a:r>
            <a:r>
              <a:rPr lang="en-US" altLang="zh-CN" sz="1600" dirty="0"/>
              <a:t> </a:t>
            </a:r>
            <a:r>
              <a:rPr lang="zh-CN" altLang="en-US" sz="1600" dirty="0"/>
              <a:t>的精确位置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GPT-4.1 </a:t>
            </a:r>
            <a:r>
              <a:rPr lang="zh-CN" altLang="en-US" sz="1600" b="1" dirty="0"/>
              <a:t>被要求为同一个 </a:t>
            </a:r>
            <a:r>
              <a:rPr lang="en-US" altLang="zh-CN" sz="1600" b="1" dirty="0"/>
              <a:t>UI </a:t>
            </a:r>
            <a:r>
              <a:rPr lang="zh-CN" altLang="en-US" sz="1600" b="1" dirty="0"/>
              <a:t>元素，从 </a:t>
            </a:r>
            <a:r>
              <a:rPr lang="en-US" altLang="zh-CN" sz="1600" b="1" dirty="0"/>
              <a:t>4 </a:t>
            </a:r>
            <a:r>
              <a:rPr lang="zh-CN" altLang="en-US" sz="1600" b="1" dirty="0"/>
              <a:t>种 </a:t>
            </a:r>
            <a:r>
              <a:rPr lang="en-US" altLang="zh-CN" sz="1600" b="1" dirty="0"/>
              <a:t>reasoning </a:t>
            </a:r>
            <a:r>
              <a:rPr lang="zh-CN" altLang="en-US" sz="1600" b="1" dirty="0"/>
              <a:t>视角生成不同指令，全屏只能匹配一个元素；</a:t>
            </a:r>
            <a:endParaRPr lang="en-US" altLang="zh-CN" sz="1600" b="1" dirty="0"/>
          </a:p>
          <a:p>
            <a:pPr marL="342900" indent="-342900">
              <a:buAutoNum type="arabicPeriod"/>
            </a:pPr>
            <a:r>
              <a:rPr lang="en-US" altLang="zh-CN" sz="1600" b="1" dirty="0"/>
              <a:t>Refinement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GPT-4.1</a:t>
            </a:r>
            <a:r>
              <a:rPr lang="zh-CN" altLang="en-US" sz="1600" b="1" dirty="0"/>
              <a:t>判断这条指令是否“只且仅能”对应高亮的那个 </a:t>
            </a:r>
            <a:r>
              <a:rPr lang="en-US" altLang="zh-CN" sz="1600" b="1" dirty="0"/>
              <a:t>UI </a:t>
            </a:r>
            <a:r>
              <a:rPr lang="zh-CN" altLang="en-US" sz="1600" b="1" dirty="0"/>
              <a:t>元素，否侧丢弃。</a:t>
            </a:r>
            <a:endParaRPr lang="en-GB" altLang="zh-CN"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en-GB" altLang="zh-CN" dirty="0"/>
              <a:t> </a:t>
            </a:r>
            <a:r>
              <a:rPr lang="en-US" altLang="zh-CN" dirty="0"/>
              <a:t>Instruction-as-Reasoning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9832" y="4557402"/>
            <a:ext cx="116912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两阶段训练：</a:t>
            </a:r>
            <a:r>
              <a:rPr lang="en-US" altLang="zh-CN" sz="1600" b="1" dirty="0">
                <a:solidFill>
                  <a:srgbClr val="FF0000"/>
                </a:solidFill>
              </a:rPr>
              <a:t>SFT </a:t>
            </a:r>
            <a:r>
              <a:rPr lang="zh-CN" altLang="en-US" sz="1600" b="1" dirty="0">
                <a:solidFill>
                  <a:srgbClr val="FF0000"/>
                </a:solidFill>
              </a:rPr>
              <a:t>阶段：显式学习“生成多视角推理”，</a:t>
            </a:r>
            <a:r>
              <a:rPr lang="en-US" altLang="zh-CN" sz="1600" b="1" dirty="0">
                <a:solidFill>
                  <a:srgbClr val="FF0000"/>
                </a:solidFill>
              </a:rPr>
              <a:t>RL </a:t>
            </a:r>
            <a:r>
              <a:rPr lang="zh-CN" altLang="en-US" sz="1600" b="1" dirty="0">
                <a:solidFill>
                  <a:srgbClr val="FF0000"/>
                </a:solidFill>
              </a:rPr>
              <a:t>阶段：在真实 </a:t>
            </a:r>
            <a:r>
              <a:rPr lang="en-US" altLang="zh-CN" sz="1600" b="1" dirty="0">
                <a:solidFill>
                  <a:srgbClr val="FF0000"/>
                </a:solidFill>
              </a:rPr>
              <a:t>reward </a:t>
            </a:r>
            <a:r>
              <a:rPr lang="zh-CN" altLang="en-US" sz="1600" b="1" dirty="0">
                <a:solidFill>
                  <a:srgbClr val="FF0000"/>
                </a:solidFill>
              </a:rPr>
              <a:t>下学习“选择最优视角”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/>
              <a:t>SFT</a:t>
            </a:r>
            <a:r>
              <a:rPr lang="zh-CN" altLang="en-US" sz="1600" b="1" dirty="0"/>
              <a:t>：输入截图，</a:t>
            </a:r>
            <a:r>
              <a:rPr lang="en-US" altLang="zh-CN" sz="1600" b="1" dirty="0"/>
              <a:t>User </a:t>
            </a:r>
            <a:r>
              <a:rPr lang="zh-CN" altLang="en-US" sz="1600" b="1" dirty="0"/>
              <a:t>指令（如 “</a:t>
            </a:r>
            <a:r>
              <a:rPr lang="en-US" altLang="zh-CN" sz="1600" b="1" dirty="0"/>
              <a:t>Click the close.”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System Prompt</a:t>
            </a:r>
            <a:r>
              <a:rPr lang="zh-CN" altLang="en-US" sz="1600" b="1" dirty="0"/>
              <a:t>：显式告诉模型“从某个视角分析”（</a:t>
            </a:r>
            <a:r>
              <a:rPr lang="en-US" altLang="zh-CN" sz="1600" b="1" dirty="0"/>
              <a:t>Appearance/Function/Spatial/Goal</a:t>
            </a:r>
            <a:r>
              <a:rPr lang="zh-CN" altLang="en-US" sz="1600" b="1" dirty="0"/>
              <a:t>）。输出</a:t>
            </a:r>
            <a:r>
              <a:rPr lang="en-US" altLang="zh-CN" sz="1600" b="1" dirty="0"/>
              <a:t>&lt;think&gt; ... &lt;/think&gt;</a:t>
            </a:r>
            <a:r>
              <a:rPr lang="zh-CN" altLang="en-US" sz="1600" b="1" dirty="0"/>
              <a:t>（</a:t>
            </a:r>
            <a:r>
              <a:rPr lang="zh-CN" altLang="en-US" sz="1600" b="1" dirty="0">
                <a:solidFill>
                  <a:srgbClr val="FF0000"/>
                </a:solidFill>
              </a:rPr>
              <a:t>把原始指令用指定视角重述</a:t>
            </a:r>
            <a:r>
              <a:rPr lang="zh-CN" altLang="en-US" sz="1600" b="1" dirty="0"/>
              <a:t>），</a:t>
            </a:r>
            <a:r>
              <a:rPr lang="en-US" altLang="zh-CN" sz="1600" b="1" dirty="0"/>
              <a:t>Coordinate: [x, y]</a:t>
            </a:r>
            <a:r>
              <a:rPr lang="zh-CN" altLang="en-US" sz="1600" b="1" dirty="0"/>
              <a:t>：输出点击点。</a:t>
            </a:r>
            <a:endParaRPr lang="en-US" altLang="zh-CN" sz="1600" b="1" dirty="0"/>
          </a:p>
          <a:p>
            <a:r>
              <a:rPr lang="en-US" altLang="zh-CN" sz="1600" b="1" dirty="0"/>
              <a:t>RL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solidFill>
                  <a:srgbClr val="FF0000"/>
                </a:solidFill>
              </a:rPr>
              <a:t>没有把“视角”做成显式动作空间（不是四选一）</a:t>
            </a:r>
            <a:r>
              <a:rPr lang="zh-CN" altLang="en-US" sz="1600" b="1" dirty="0"/>
              <a:t>，而是让模型在自由生成的推理文本里“隐式选择视角”。输入的</a:t>
            </a:r>
            <a:r>
              <a:rPr lang="en-US" altLang="zh-CN" sz="1600" b="1" dirty="0"/>
              <a:t>System prompt </a:t>
            </a:r>
            <a:r>
              <a:rPr lang="zh-CN" altLang="en-US" sz="1600" b="1" dirty="0"/>
              <a:t>变成：</a:t>
            </a:r>
            <a:r>
              <a:rPr lang="en-US" altLang="zh-CN" sz="1600" b="1" dirty="0"/>
              <a:t>“You should think first, then output the coordinate.”</a:t>
            </a:r>
            <a:r>
              <a:rPr lang="zh-CN" altLang="en-US" sz="1600" b="1" dirty="0"/>
              <a:t>，如果输出点落在 </a:t>
            </a:r>
            <a:r>
              <a:rPr lang="en-US" altLang="zh-CN" sz="1600" b="1" dirty="0"/>
              <a:t>GT </a:t>
            </a:r>
            <a:r>
              <a:rPr lang="en-US" altLang="zh-CN" sz="1600" b="1" dirty="0" err="1"/>
              <a:t>bbox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内 → </a:t>
            </a:r>
            <a:r>
              <a:rPr lang="en-US" altLang="zh-CN" sz="1600" b="1" dirty="0"/>
              <a:t>reward = 1</a:t>
            </a:r>
            <a:endParaRPr lang="en-US" altLang="zh-CN" sz="16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76" y="1424839"/>
            <a:ext cx="5748613" cy="30305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5756" cy="1325563"/>
          </a:xfrm>
        </p:spPr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GB" altLang="zh-CN" dirty="0"/>
              <a:t>Baselines &amp; Dataset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86107" y="6237968"/>
            <a:ext cx="2743200" cy="365125"/>
          </a:xfrm>
        </p:spPr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970340" y="2325611"/>
            <a:ext cx="9180689" cy="1428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zh-CN" b="1" dirty="0"/>
              <a:t>Base</a:t>
            </a:r>
            <a:r>
              <a:rPr lang="en-US" altLang="zh-CN" b="1" dirty="0"/>
              <a:t>model</a:t>
            </a:r>
            <a:endParaRPr lang="en-GB" altLang="zh-CN" b="1" dirty="0"/>
          </a:p>
          <a:p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• Qwen2.5-VL-7B </a:t>
            </a:r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→</a:t>
            </a:r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 UI-Ins-7B</a:t>
            </a:r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Noto Serif" panose="02020600060500020200" pitchFamily="18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• Qwen2.5-VL-32B </a:t>
            </a:r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→</a:t>
            </a:r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 UI-Ins-32B</a:t>
            </a:r>
            <a:endParaRPr lang="en-US" altLang="zh-CN" dirty="0">
              <a:solidFill>
                <a:srgbClr val="000000"/>
              </a:solidFill>
              <a:latin typeface="Noto Serif" panose="02020600060500020200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70340" y="1435339"/>
            <a:ext cx="100640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Dataset </a:t>
            </a:r>
            <a:endParaRPr lang="en-GB" altLang="zh-CN" b="1" dirty="0"/>
          </a:p>
          <a:p>
            <a:r>
              <a:rPr lang="en-US" altLang="zh-CN" dirty="0"/>
              <a:t>OS-Atlas</a:t>
            </a:r>
            <a:r>
              <a:rPr lang="zh-CN" altLang="en-US" dirty="0"/>
              <a:t>、</a:t>
            </a:r>
            <a:r>
              <a:rPr lang="en-US" altLang="zh-CN" dirty="0" err="1"/>
              <a:t>Omniact</a:t>
            </a:r>
            <a:r>
              <a:rPr lang="zh-CN" altLang="en-US" dirty="0"/>
              <a:t>、</a:t>
            </a:r>
            <a:r>
              <a:rPr lang="en-US" altLang="zh-CN" dirty="0"/>
              <a:t>Android Control</a:t>
            </a:r>
            <a:r>
              <a:rPr lang="zh-CN" altLang="en-US" dirty="0"/>
              <a:t>、</a:t>
            </a:r>
            <a:r>
              <a:rPr lang="en-US" altLang="zh-CN" dirty="0"/>
              <a:t>AMEX</a:t>
            </a:r>
            <a:r>
              <a:rPr lang="zh-CN" altLang="en-US" dirty="0"/>
              <a:t>、</a:t>
            </a:r>
            <a:r>
              <a:rPr lang="en-US" altLang="zh-CN" dirty="0" err="1"/>
              <a:t>AgentNet</a:t>
            </a:r>
            <a:endParaRPr lang="en-US" altLang="zh-CN" dirty="0"/>
          </a:p>
          <a:p>
            <a:r>
              <a:rPr lang="zh-CN" altLang="en-US" dirty="0"/>
              <a:t>所有数据都先经过前面介绍的数据处理流水线。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970340" y="3430763"/>
            <a:ext cx="107454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SFT</a:t>
            </a:r>
            <a:endParaRPr lang="en-GB" altLang="zh-CN" b="1" dirty="0"/>
          </a:p>
          <a:p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约 </a:t>
            </a:r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283k </a:t>
            </a:r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条训练样本，每条样本中，从四种视角中随机挑选 两个不同视角，一个用作“指令视角”（展示给模型的用户指令）， </a:t>
            </a:r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另一个用作“推理视角”（模型在 </a:t>
            </a:r>
            <a:r>
              <a:rPr lang="en-US" altLang="zh-CN" dirty="0">
                <a:solidFill>
                  <a:srgbClr val="000000"/>
                </a:solidFill>
                <a:latin typeface="Noto Serif" panose="02020600060500020200" pitchFamily="18" charset="0"/>
              </a:rPr>
              <a:t>&lt;think&gt; </a:t>
            </a:r>
            <a:r>
              <a:rPr lang="zh-CN" altLang="en-US" dirty="0">
                <a:solidFill>
                  <a:srgbClr val="000000"/>
                </a:solidFill>
                <a:latin typeface="Noto Serif" panose="02020600060500020200" pitchFamily="18" charset="0"/>
              </a:rPr>
              <a:t>中要生成的重写指令）；</a:t>
            </a:r>
            <a:endParaRPr lang="en-US" altLang="zh-CN" dirty="0">
              <a:solidFill>
                <a:srgbClr val="000000"/>
              </a:solidFill>
              <a:latin typeface="Noto Serif" panose="02020600060500020200" pitchFamily="18" charset="0"/>
            </a:endParaRPr>
          </a:p>
          <a:p>
            <a:r>
              <a:rPr kumimoji="1" lang="zh-CN" altLang="en-US" dirty="0"/>
              <a:t>模型要学习：根据“指令视角的指令 </a:t>
            </a:r>
            <a:r>
              <a:rPr kumimoji="1" lang="en-US" altLang="zh-CN" dirty="0"/>
              <a:t>+ </a:t>
            </a:r>
            <a:r>
              <a:rPr kumimoji="1" lang="zh-CN" altLang="en-US" dirty="0"/>
              <a:t>截图”，生成“推理视角的重写文本 </a:t>
            </a:r>
            <a:r>
              <a:rPr kumimoji="1" lang="en-US" altLang="zh-CN" dirty="0"/>
              <a:t>+ </a:t>
            </a:r>
            <a:r>
              <a:rPr kumimoji="1" lang="zh-CN" altLang="en-US" dirty="0"/>
              <a:t>坐标”。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RL</a:t>
            </a:r>
            <a:endParaRPr lang="en-US" altLang="zh-CN" b="1" dirty="0"/>
          </a:p>
          <a:p>
            <a:r>
              <a:rPr kumimoji="1" lang="zh-CN" altLang="en-US" dirty="0"/>
              <a:t>约 </a:t>
            </a:r>
            <a:r>
              <a:rPr kumimoji="1" lang="en-US" altLang="zh-CN" dirty="0"/>
              <a:t>33k </a:t>
            </a:r>
            <a:r>
              <a:rPr kumimoji="1" lang="zh-CN" altLang="en-US" dirty="0"/>
              <a:t>条基础实例，并根据多视角扩展到约 </a:t>
            </a:r>
            <a:r>
              <a:rPr kumimoji="1" lang="en-US" altLang="zh-CN" dirty="0"/>
              <a:t>100k </a:t>
            </a:r>
            <a:r>
              <a:rPr kumimoji="1" lang="zh-CN" altLang="en-US" dirty="0"/>
              <a:t>条 </a:t>
            </a:r>
            <a:r>
              <a:rPr kumimoji="1" lang="en-US" altLang="zh-CN" dirty="0"/>
              <a:t>RL </a:t>
            </a:r>
            <a:r>
              <a:rPr kumimoji="1" lang="zh-CN" altLang="en-US" dirty="0"/>
              <a:t>样本，对每条样本不再规定视角，只给任务与截图，让模型自发“思考 </a:t>
            </a:r>
            <a:r>
              <a:rPr kumimoji="1" lang="en-US" altLang="zh-CN" dirty="0"/>
              <a:t>+ </a:t>
            </a:r>
            <a:r>
              <a:rPr kumimoji="1" lang="zh-CN" altLang="en-US" dirty="0"/>
              <a:t>输出坐标”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783" y="5788509"/>
            <a:ext cx="4515744" cy="8989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sz="3600" dirty="0"/>
              <a:t>Main Result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321484" y="1777791"/>
            <a:ext cx="35338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292929"/>
                </a:solidFill>
                <a:latin typeface="Noto Serif" panose="02020600060500020200" pitchFamily="18" charset="0"/>
              </a:rPr>
              <a:t>UI-I2E-Bench 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  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关注“显式指令”和“隐式指令”两类：    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显式指令：直接告诉你要操作哪个元素；    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隐式指令：需要推理才能确定，例如“点击发送邮件”的按钮。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endParaRPr lang="en-US" altLang="zh-CN" sz="1600" b="0" i="0" dirty="0">
              <a:solidFill>
                <a:srgbClr val="292929"/>
              </a:solidFill>
              <a:effectLst/>
              <a:latin typeface="Noto Serif" panose="02020600060500020200" pitchFamily="18" charset="0"/>
            </a:endParaRPr>
          </a:p>
          <a:p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在 显式子集上，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UI-Ins-32B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比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GTA1-32B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提升约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1.6%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；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在 隐式子集上，优势扩大到约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6.6%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。</a:t>
            </a:r>
            <a:endParaRPr lang="en-US" altLang="zh-CN" sz="1600" b="0" i="0" dirty="0">
              <a:solidFill>
                <a:srgbClr val="292929"/>
              </a:solidFill>
              <a:effectLst/>
              <a:latin typeface="Noto Serif" panose="02020600060500020200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9996" y="1453103"/>
            <a:ext cx="6994857" cy="50397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sz="3600" dirty="0"/>
              <a:t>Main Result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321484" y="1777791"/>
            <a:ext cx="353388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292929"/>
                </a:solidFill>
                <a:latin typeface="Noto Serif" panose="02020600060500020200" pitchFamily="18" charset="0"/>
              </a:rPr>
              <a:t>MMBench</a:t>
            </a:r>
            <a:r>
              <a:rPr lang="en-US" altLang="zh-CN" sz="2000" b="1" dirty="0">
                <a:solidFill>
                  <a:srgbClr val="292929"/>
                </a:solidFill>
                <a:latin typeface="Noto Serif" panose="02020600060500020200" pitchFamily="18" charset="0"/>
              </a:rPr>
              <a:t>-GUI L2 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  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Basic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指令：类似“深紫色背景的矩形按钮”，着重视觉描述；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Advanced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指令：类似“升级你当前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workspace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的按钮”，更强调功能与隐含意图。</a:t>
            </a:r>
            <a:endParaRPr lang="en-US" altLang="zh-CN" sz="1600" b="0" i="0" dirty="0">
              <a:solidFill>
                <a:srgbClr val="292929"/>
              </a:solidFill>
              <a:effectLst/>
              <a:latin typeface="Noto Serif" panose="02020600060500020200" pitchFamily="18" charset="0"/>
            </a:endParaRPr>
          </a:p>
          <a:p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相比基础模型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Qwen2.5-VL-7B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，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UI-Ins-7B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在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Basic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子集上相对提升约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134.2%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，在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Advanced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子集上的提升达到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159.4%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；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对于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32B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版本，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UI-Ins-32B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相比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Qwen2.5-VL-32B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，在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Basic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子集上的提升为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12.3%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，在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Advanced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子集上的提升扩大到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24.5%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。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endParaRPr lang="en-US" altLang="zh-CN" sz="1600" b="0" i="0" dirty="0">
              <a:solidFill>
                <a:srgbClr val="292929"/>
              </a:solidFill>
              <a:effectLst/>
              <a:latin typeface="Noto Serif" panose="02020600060500020200" pitchFamily="18" charset="0"/>
            </a:endParaRPr>
          </a:p>
          <a:p>
            <a:r>
              <a:rPr lang="zh-CN" altLang="en-US" sz="1600" dirty="0">
                <a:solidFill>
                  <a:srgbClr val="FF0000"/>
                </a:solidFill>
                <a:latin typeface="Noto Serif" panose="02020600060500020200" pitchFamily="18" charset="0"/>
              </a:rPr>
              <a:t>当指令更抽象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/</a:t>
            </a:r>
            <a:r>
              <a:rPr lang="zh-CN" altLang="en-US" sz="1600" dirty="0">
                <a:solidFill>
                  <a:srgbClr val="FF0000"/>
                </a:solidFill>
                <a:latin typeface="Noto Serif" panose="02020600060500020200" pitchFamily="18" charset="0"/>
              </a:rPr>
              <a:t>隐含（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Advanced</a:t>
            </a:r>
            <a:r>
              <a:rPr lang="zh-CN" altLang="en-US" sz="1600" dirty="0">
                <a:solidFill>
                  <a:srgbClr val="FF0000"/>
                </a:solidFill>
                <a:latin typeface="Noto Serif" panose="02020600060500020200" pitchFamily="18" charset="0"/>
              </a:rPr>
              <a:t>）时，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Instruction-as-Reasoning </a:t>
            </a:r>
            <a:r>
              <a:rPr lang="zh-CN" altLang="en-US" sz="1600" dirty="0">
                <a:solidFill>
                  <a:srgbClr val="FF0000"/>
                </a:solidFill>
                <a:latin typeface="Noto Serif" panose="02020600060500020200" pitchFamily="18" charset="0"/>
              </a:rPr>
              <a:t>的优势更为明显</a:t>
            </a:r>
            <a:endParaRPr lang="en-US" altLang="zh-CN" sz="1600" b="0" i="0" dirty="0">
              <a:solidFill>
                <a:srgbClr val="FF0000"/>
              </a:solidFill>
              <a:effectLst/>
              <a:latin typeface="Noto Serif" panose="02020600060500020200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2071" y="1590086"/>
            <a:ext cx="6810775" cy="4866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sz="3600" dirty="0"/>
              <a:t>Main Result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321484" y="1777791"/>
            <a:ext cx="3533889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292929"/>
                </a:solidFill>
                <a:latin typeface="Noto Serif" panose="02020600060500020200" pitchFamily="18" charset="0"/>
              </a:rPr>
              <a:t>ScreenSpot</a:t>
            </a:r>
            <a:r>
              <a:rPr lang="en-US" altLang="zh-CN" sz="2000" b="1" dirty="0">
                <a:solidFill>
                  <a:srgbClr val="292929"/>
                </a:solidFill>
                <a:latin typeface="Noto Serif" panose="02020600060500020200" pitchFamily="18" charset="0"/>
              </a:rPr>
              <a:t>-Pro</a:t>
            </a:r>
            <a:r>
              <a:rPr lang="zh-CN" altLang="en-US" sz="2000" b="1" dirty="0">
                <a:solidFill>
                  <a:srgbClr val="292929"/>
                </a:solidFill>
                <a:latin typeface="Noto Serif" panose="02020600060500020200" pitchFamily="18" charset="0"/>
              </a:rPr>
              <a:t>（高分辨率）</a:t>
            </a:r>
            <a:endParaRPr lang="en-US" altLang="zh-CN" sz="2000" b="1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UI-Ins-32B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在多个软件领域（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CAD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、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Office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、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Creative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等）上达到或接近最佳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b="1" dirty="0"/>
              <a:t>ScreenSpot-V2</a:t>
            </a:r>
            <a:r>
              <a:rPr lang="en-US" altLang="zh-CN" sz="1600" dirty="0"/>
              <a:t> </a:t>
            </a:r>
            <a:endParaRPr lang="en-US" altLang="zh-CN" sz="1600" dirty="0"/>
          </a:p>
          <a:p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不同平台（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Mobile / Desktop / Web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）上，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UI-Ins-7B/32B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都接近或超过其它强基线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7059" y="330654"/>
            <a:ext cx="4239048" cy="31409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059" y="3609452"/>
            <a:ext cx="4361668" cy="2889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sz="3600" dirty="0"/>
              <a:t>Main Result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321484" y="1777791"/>
            <a:ext cx="35338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/>
              <a:t>AndroidWorld</a:t>
            </a:r>
            <a:r>
              <a:rPr lang="zh-CN" altLang="en-US" sz="2000" b="1" dirty="0"/>
              <a:t>（真实环境）</a:t>
            </a:r>
            <a:endParaRPr lang="en-US" altLang="zh-CN" sz="2000" b="1" dirty="0"/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Planner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（规划器）：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GPT-5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负责高层决策：每一步该执行什么操作（如点击哪个按钮、返回等）；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Executor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（执行器）：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UI-Ins-7B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接收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Planner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给的自然语言子指令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+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当前屏幕截图； 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使用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GUI grounding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功能找到具体坐标并触发动作。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  <a:p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与相同设置下使用基础模型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Qwen2.5-VL-7B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（成功率 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50.0%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）相比，</a:t>
            </a:r>
            <a:r>
              <a:rPr lang="en-US" altLang="zh-CN" sz="1600" dirty="0">
                <a:solidFill>
                  <a:srgbClr val="292929"/>
                </a:solidFill>
                <a:latin typeface="Noto Serif" panose="02020600060500020200" pitchFamily="18" charset="0"/>
              </a:rPr>
              <a:t>UI-Ins-7B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带来了 </a:t>
            </a:r>
            <a:r>
              <a:rPr lang="en-US" altLang="zh-CN" sz="1600" dirty="0">
                <a:solidFill>
                  <a:srgbClr val="FF0000"/>
                </a:solidFill>
                <a:latin typeface="Noto Serif" panose="02020600060500020200" pitchFamily="18" charset="0"/>
              </a:rPr>
              <a:t>24.1% </a:t>
            </a:r>
            <a:r>
              <a:rPr lang="zh-CN" altLang="en-US" sz="1600" dirty="0">
                <a:solidFill>
                  <a:srgbClr val="292929"/>
                </a:solidFill>
                <a:latin typeface="Noto Serif" panose="02020600060500020200" pitchFamily="18" charset="0"/>
              </a:rPr>
              <a:t>的绝对提升。</a:t>
            </a:r>
            <a:endParaRPr lang="en-US" altLang="zh-CN" sz="1600" dirty="0">
              <a:solidFill>
                <a:srgbClr val="292929"/>
              </a:solidFill>
              <a:latin typeface="Noto Serif" panose="02020600060500020200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6178" y="1926771"/>
            <a:ext cx="7005387" cy="34919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4511" cy="1325563"/>
          </a:xfrm>
        </p:spPr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GB" altLang="zh-CN" dirty="0"/>
              <a:t>Ablation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5007" y="5094922"/>
            <a:ext cx="101390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dirty="0"/>
              <a:t>再次对数据流水线的质量做了人工检查，在处理后数据中抽样 </a:t>
            </a:r>
            <a:r>
              <a:rPr lang="en-US" altLang="zh-CN" dirty="0"/>
              <a:t>1,542 </a:t>
            </a:r>
            <a:r>
              <a:rPr lang="zh-CN" altLang="en-US" dirty="0"/>
              <a:t>条，发现：错误率（包含歧义和错配）降到 </a:t>
            </a:r>
            <a:r>
              <a:rPr lang="en-US" altLang="zh-CN" dirty="0"/>
              <a:t>&lt; 8%</a:t>
            </a:r>
            <a:r>
              <a:rPr lang="zh-CN" altLang="en-US" dirty="0"/>
              <a:t>，相比原始数据的 </a:t>
            </a:r>
            <a:r>
              <a:rPr lang="en-US" altLang="zh-CN" dirty="0"/>
              <a:t>23.3% </a:t>
            </a:r>
            <a:r>
              <a:rPr lang="zh-CN" altLang="en-US" dirty="0"/>
              <a:t>大幅下降。</a:t>
            </a:r>
            <a:endParaRPr lang="en-US" altLang="zh-CN" dirty="0"/>
          </a:p>
          <a:p>
            <a:pPr algn="just"/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dirty="0">
                <a:solidFill>
                  <a:srgbClr val="292929"/>
                </a:solidFill>
                <a:latin typeface="Noto Serif" panose="02020600060500020200" pitchFamily="18" charset="0"/>
              </a:rPr>
              <a:t>使用原始数据 </a:t>
            </a:r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vs </a:t>
            </a:r>
            <a:r>
              <a:rPr lang="zh-CN" altLang="en-US" dirty="0">
                <a:solidFill>
                  <a:srgbClr val="292929"/>
                </a:solidFill>
                <a:latin typeface="Noto Serif" panose="02020600060500020200" pitchFamily="18" charset="0"/>
              </a:rPr>
              <a:t>使用清洗后的数据训练 </a:t>
            </a:r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Qwen2.5-VL-7B</a:t>
            </a:r>
            <a:r>
              <a:rPr lang="zh-CN" altLang="en-US" dirty="0">
                <a:solidFill>
                  <a:srgbClr val="292929"/>
                </a:solidFill>
                <a:latin typeface="Noto Serif" panose="02020600060500020200" pitchFamily="18" charset="0"/>
              </a:rPr>
              <a:t>；在 </a:t>
            </a:r>
            <a:r>
              <a:rPr lang="en-US" altLang="zh-CN" dirty="0" err="1">
                <a:solidFill>
                  <a:srgbClr val="292929"/>
                </a:solidFill>
                <a:latin typeface="Noto Serif" panose="02020600060500020200" pitchFamily="18" charset="0"/>
              </a:rPr>
              <a:t>MMBench</a:t>
            </a:r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-GUI</a:t>
            </a:r>
            <a:r>
              <a:rPr lang="zh-CN" altLang="en-US" dirty="0">
                <a:solidFill>
                  <a:srgbClr val="292929"/>
                </a:solidFill>
                <a:latin typeface="Noto Serif" panose="02020600060500020200" pitchFamily="18" charset="0"/>
              </a:rPr>
              <a:t>、</a:t>
            </a:r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UI-I2E</a:t>
            </a:r>
            <a:r>
              <a:rPr lang="zh-CN" altLang="en-US" dirty="0">
                <a:solidFill>
                  <a:srgbClr val="292929"/>
                </a:solidFill>
                <a:latin typeface="Noto Serif" panose="02020600060500020200" pitchFamily="18" charset="0"/>
              </a:rPr>
              <a:t>、</a:t>
            </a:r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ScreenSpot-V2 </a:t>
            </a:r>
            <a:r>
              <a:rPr lang="zh-CN" altLang="en-US" dirty="0">
                <a:solidFill>
                  <a:srgbClr val="292929"/>
                </a:solidFill>
                <a:latin typeface="Noto Serif" panose="02020600060500020200" pitchFamily="18" charset="0"/>
              </a:rPr>
              <a:t>等基准上评测，</a:t>
            </a:r>
            <a:r>
              <a:rPr lang="zh-CN" altLang="en-US" dirty="0">
                <a:solidFill>
                  <a:srgbClr val="FF0000"/>
                </a:solidFill>
                <a:latin typeface="Noto Serif" panose="02020600060500020200" pitchFamily="18" charset="0"/>
              </a:rPr>
              <a:t>使用清洗数据训练的模型，在各个基准上都有明显提升</a:t>
            </a:r>
            <a:endParaRPr lang="zh-CN" altLang="en-US" b="0" dirty="0">
              <a:solidFill>
                <a:srgbClr val="FF0000"/>
              </a:solidFill>
              <a:effectLst/>
              <a:latin typeface="Noto Serif" panose="02020600060500020200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8414" y="1690688"/>
            <a:ext cx="7992811" cy="32982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4511" cy="1325563"/>
          </a:xfrm>
        </p:spPr>
        <p:txBody>
          <a:bodyPr/>
          <a:lstStyle/>
          <a:p>
            <a:r>
              <a:rPr lang="en-US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GB" altLang="zh-CN" dirty="0"/>
              <a:t>Ablation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0211" y="4050451"/>
            <a:ext cx="101390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四种消融策略：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不用 </a:t>
            </a:r>
            <a:r>
              <a:rPr lang="en-US" altLang="zh-CN" dirty="0"/>
              <a:t>SFT</a:t>
            </a:r>
            <a:r>
              <a:rPr lang="zh-CN" altLang="en-US" dirty="0"/>
              <a:t>，不用 </a:t>
            </a:r>
            <a:r>
              <a:rPr lang="en-US" altLang="zh-CN" dirty="0"/>
              <a:t>RL</a:t>
            </a:r>
            <a:r>
              <a:rPr lang="zh-CN" altLang="en-US" dirty="0"/>
              <a:t>（只用基础 </a:t>
            </a:r>
            <a:r>
              <a:rPr lang="en-US" altLang="zh-CN" dirty="0"/>
              <a:t>Qwen2.5-VL-7B</a:t>
            </a:r>
            <a:r>
              <a:rPr lang="zh-CN" altLang="en-US" dirty="0"/>
              <a:t>，且强制其输出推理格式）；</a:t>
            </a:r>
            <a:endParaRPr lang="zh-CN" altLang="en-US" dirty="0"/>
          </a:p>
          <a:p>
            <a:r>
              <a:rPr lang="zh-CN" altLang="en-US" dirty="0"/>
              <a:t>只用 </a:t>
            </a:r>
            <a:r>
              <a:rPr lang="en-US" altLang="zh-CN" dirty="0"/>
              <a:t>RL</a:t>
            </a:r>
            <a:r>
              <a:rPr lang="zh-CN" altLang="en-US" dirty="0"/>
              <a:t>；</a:t>
            </a:r>
            <a:endParaRPr lang="zh-CN" altLang="en-US" dirty="0"/>
          </a:p>
          <a:p>
            <a:r>
              <a:rPr lang="zh-CN" altLang="en-US" dirty="0"/>
              <a:t>只用 </a:t>
            </a:r>
            <a:r>
              <a:rPr lang="en-US" altLang="zh-CN" dirty="0"/>
              <a:t>SFT</a:t>
            </a:r>
            <a:r>
              <a:rPr lang="zh-CN" altLang="en-US" dirty="0"/>
              <a:t>；</a:t>
            </a:r>
            <a:endParaRPr lang="zh-CN" altLang="en-US" dirty="0"/>
          </a:p>
          <a:p>
            <a:r>
              <a:rPr lang="en-US" altLang="zh-CN" dirty="0"/>
              <a:t>SFT + RL </a:t>
            </a:r>
            <a:r>
              <a:rPr lang="zh-CN" altLang="en-US" dirty="0"/>
              <a:t>全部使用（完整 </a:t>
            </a:r>
            <a:r>
              <a:rPr lang="en-US" altLang="zh-CN" dirty="0"/>
              <a:t>Instruction-as-Reasoning</a:t>
            </a:r>
            <a:r>
              <a:rPr lang="zh-CN" altLang="en-US" dirty="0"/>
              <a:t>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• </a:t>
            </a:r>
            <a:r>
              <a:rPr lang="zh-CN" altLang="en-US" dirty="0">
                <a:solidFill>
                  <a:srgbClr val="FF0000"/>
                </a:solidFill>
              </a:rPr>
              <a:t>单独使用 </a:t>
            </a:r>
            <a:r>
              <a:rPr lang="en-US" altLang="zh-CN" dirty="0">
                <a:solidFill>
                  <a:srgbClr val="FF0000"/>
                </a:solidFill>
              </a:rPr>
              <a:t>RL </a:t>
            </a:r>
            <a:r>
              <a:rPr lang="zh-CN" altLang="en-US" dirty="0">
                <a:solidFill>
                  <a:srgbClr val="FF0000"/>
                </a:solidFill>
              </a:rPr>
              <a:t>或单独使用 </a:t>
            </a:r>
            <a:r>
              <a:rPr lang="en-US" altLang="zh-CN" dirty="0">
                <a:solidFill>
                  <a:srgbClr val="FF0000"/>
                </a:solidFill>
              </a:rPr>
              <a:t>SFT </a:t>
            </a:r>
            <a:r>
              <a:rPr lang="zh-CN" altLang="en-US" dirty="0">
                <a:solidFill>
                  <a:srgbClr val="FF0000"/>
                </a:solidFill>
              </a:rPr>
              <a:t>都比不上“先 </a:t>
            </a:r>
            <a:r>
              <a:rPr lang="en-US" altLang="zh-CN" dirty="0">
                <a:solidFill>
                  <a:srgbClr val="FF0000"/>
                </a:solidFill>
              </a:rPr>
              <a:t>SFT </a:t>
            </a:r>
            <a:r>
              <a:rPr lang="zh-CN" altLang="en-US" dirty="0">
                <a:solidFill>
                  <a:srgbClr val="FF0000"/>
                </a:solidFill>
              </a:rPr>
              <a:t>再 </a:t>
            </a:r>
            <a:r>
              <a:rPr lang="en-US" altLang="zh-CN" dirty="0">
                <a:solidFill>
                  <a:srgbClr val="FF0000"/>
                </a:solidFill>
              </a:rPr>
              <a:t>RL”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• </a:t>
            </a:r>
            <a:r>
              <a:rPr lang="zh-CN" altLang="en-US" dirty="0">
                <a:solidFill>
                  <a:srgbClr val="FF0000"/>
                </a:solidFill>
              </a:rPr>
              <a:t>完整的两阶段训练带来了最大的性能提升。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647" y="1489982"/>
            <a:ext cx="4121236" cy="24007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09" y="1615142"/>
            <a:ext cx="3625261" cy="23394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4511" cy="1325563"/>
          </a:xfrm>
        </p:spPr>
        <p:txBody>
          <a:bodyPr/>
          <a:lstStyle/>
          <a:p>
            <a:r>
              <a:rPr lang="en-US" dirty="0"/>
              <a:t>Experiments</a:t>
            </a:r>
            <a:r>
              <a:rPr lang="zh-CN" altLang="en-US" dirty="0"/>
              <a:t> </a:t>
            </a:r>
            <a:r>
              <a:rPr lang="en-US" altLang="zh-CN" dirty="0"/>
              <a:t>|</a:t>
            </a:r>
            <a:r>
              <a:rPr lang="zh-CN" altLang="en-US" dirty="0"/>
              <a:t> </a:t>
            </a:r>
            <a:r>
              <a:rPr lang="en-US" altLang="zh-CN" dirty="0"/>
              <a:t>Discussion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838198" y="1424380"/>
            <a:ext cx="1083451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中间推理是否必要？</a:t>
            </a:r>
            <a:endParaRPr lang="en-US" altLang="zh-CN" dirty="0"/>
          </a:p>
          <a:p>
            <a:r>
              <a:rPr lang="zh-CN" altLang="en-US" dirty="0"/>
              <a:t>说明：训练时不再要求模型生成 </a:t>
            </a:r>
            <a:r>
              <a:rPr lang="en-US" altLang="zh-CN" dirty="0"/>
              <a:t>&lt;think&gt; </a:t>
            </a:r>
            <a:r>
              <a:rPr lang="zh-CN" altLang="en-US" dirty="0"/>
              <a:t>部分，只预测 </a:t>
            </a:r>
            <a:r>
              <a:rPr lang="en-US" altLang="zh-CN" dirty="0"/>
              <a:t>(x, y)</a:t>
            </a:r>
            <a:endParaRPr lang="en-US" altLang="zh-CN" dirty="0"/>
          </a:p>
          <a:p>
            <a:r>
              <a:rPr lang="zh-CN" altLang="en-US" dirty="0"/>
              <a:t>结果：相比完整的 </a:t>
            </a:r>
            <a:r>
              <a:rPr lang="en-US" altLang="zh-CN" dirty="0"/>
              <a:t>Instruction-as-Reasoning</a:t>
            </a:r>
            <a:r>
              <a:rPr lang="zh-CN" altLang="en-US" dirty="0"/>
              <a:t>，去掉推理部分后，模型在所有基准上的性能都有明显下降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自由形式长推理（</a:t>
            </a:r>
            <a:r>
              <a:rPr lang="en-US" altLang="zh-CN" dirty="0"/>
              <a:t>FFR</a:t>
            </a:r>
            <a:r>
              <a:rPr lang="zh-CN" altLang="en-US" dirty="0"/>
              <a:t>） </a:t>
            </a:r>
            <a:r>
              <a:rPr lang="en-US" altLang="zh-CN" dirty="0"/>
              <a:t>vs Instruction-as-Reasoning</a:t>
            </a:r>
            <a:r>
              <a:rPr lang="zh-CN" altLang="en-US" dirty="0"/>
              <a:t>（</a:t>
            </a:r>
            <a:r>
              <a:rPr lang="en-US" altLang="zh-CN" dirty="0"/>
              <a:t>IR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FFR</a:t>
            </a:r>
            <a:r>
              <a:rPr lang="zh-CN" altLang="en-US" dirty="0"/>
              <a:t>在强化学习中还可能“越想越错”，甚至拖累性能，对 </a:t>
            </a:r>
            <a:r>
              <a:rPr lang="en-US" altLang="zh-CN" dirty="0"/>
              <a:t>UI-Tars-1.5-7B </a:t>
            </a:r>
            <a:r>
              <a:rPr lang="zh-CN" altLang="en-US" dirty="0"/>
              <a:t>这样的模型，使用 </a:t>
            </a:r>
            <a:r>
              <a:rPr lang="en-US" altLang="zh-CN" dirty="0"/>
              <a:t>FFR </a:t>
            </a:r>
            <a:r>
              <a:rPr lang="zh-CN" altLang="en-US" dirty="0"/>
              <a:t>会让 </a:t>
            </a:r>
            <a:r>
              <a:rPr lang="en-US" altLang="zh-CN" dirty="0" err="1"/>
              <a:t>ScreenSpot</a:t>
            </a:r>
            <a:r>
              <a:rPr lang="en-US" altLang="zh-CN" dirty="0"/>
              <a:t>-Pro </a:t>
            </a:r>
            <a:r>
              <a:rPr lang="zh-CN" altLang="en-US" dirty="0"/>
              <a:t>上的性能下降约 </a:t>
            </a:r>
            <a:r>
              <a:rPr lang="en-US" altLang="zh-CN" dirty="0"/>
              <a:t>6.4%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 Instruction-as-Reasoning </a:t>
            </a:r>
            <a:r>
              <a:rPr lang="zh-CN" altLang="en-US" dirty="0"/>
              <a:t>带来的隐形好处：缓解策略坍塌</a:t>
            </a:r>
            <a:endParaRPr lang="en-US" altLang="zh-CN" dirty="0"/>
          </a:p>
          <a:p>
            <a:r>
              <a:rPr lang="zh-CN" altLang="en-US" dirty="0"/>
              <a:t>在传统的 </a:t>
            </a:r>
            <a:r>
              <a:rPr lang="en-US" altLang="zh-CN" dirty="0"/>
              <a:t>SFT+RL </a:t>
            </a:r>
            <a:r>
              <a:rPr lang="zh-CN" altLang="en-US" dirty="0"/>
              <a:t>框架中，如果：</a:t>
            </a:r>
            <a:r>
              <a:rPr lang="en-US" altLang="zh-CN" dirty="0"/>
              <a:t>SFT </a:t>
            </a:r>
            <a:r>
              <a:rPr lang="zh-CN" altLang="en-US" dirty="0"/>
              <a:t>只训练模型输出坐标（如仅用坐标作为监督目标）；那么模型在 </a:t>
            </a:r>
            <a:r>
              <a:rPr lang="en-US" altLang="zh-CN" dirty="0"/>
              <a:t>RL </a:t>
            </a:r>
            <a:r>
              <a:rPr lang="zh-CN" altLang="en-US" dirty="0"/>
              <a:t>时容易陷入“策略坍塌”：输出变得非常单一、缺乏探索；</a:t>
            </a:r>
            <a:r>
              <a:rPr lang="en-US" altLang="zh-CN" dirty="0"/>
              <a:t>RL </a:t>
            </a:r>
            <a:r>
              <a:rPr lang="zh-CN" altLang="en-US" dirty="0"/>
              <a:t>的 </a:t>
            </a:r>
            <a:r>
              <a:rPr lang="en-US" altLang="zh-CN" dirty="0"/>
              <a:t>reward </a:t>
            </a:r>
            <a:r>
              <a:rPr lang="zh-CN" altLang="en-US" dirty="0"/>
              <a:t>难以提高，性能甚至会越来越差。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涌现能力：超越预定义视角的推理</a:t>
            </a:r>
            <a:endParaRPr lang="en-US" altLang="zh-CN" dirty="0"/>
          </a:p>
          <a:p>
            <a:r>
              <a:rPr lang="zh-CN" altLang="en-US" dirty="0"/>
              <a:t>在不同场景中，模型会“自觉”地选用不同的视角</a:t>
            </a:r>
            <a:endParaRPr lang="en-US" altLang="zh-CN" dirty="0"/>
          </a:p>
          <a:p>
            <a:r>
              <a:rPr lang="zh-CN" altLang="en-US" dirty="0"/>
              <a:t>很多输出中，模型会混合多种视角，形成更完整的描述</a:t>
            </a:r>
            <a:endParaRPr lang="en-US" altLang="zh-CN" dirty="0"/>
          </a:p>
          <a:p>
            <a:r>
              <a:rPr lang="zh-CN" altLang="en-US" dirty="0"/>
              <a:t>虽然训练时只有四种主要视角（外观</a:t>
            </a:r>
            <a:r>
              <a:rPr lang="en-US" altLang="zh-CN" dirty="0"/>
              <a:t>/</a:t>
            </a:r>
            <a:r>
              <a:rPr lang="zh-CN" altLang="en-US" dirty="0"/>
              <a:t>功能</a:t>
            </a:r>
            <a:r>
              <a:rPr lang="en-US" altLang="zh-CN" dirty="0"/>
              <a:t>/</a:t>
            </a:r>
            <a:r>
              <a:rPr lang="zh-CN" altLang="en-US" dirty="0"/>
              <a:t>空间</a:t>
            </a:r>
            <a:r>
              <a:rPr lang="en-US" altLang="zh-CN" dirty="0"/>
              <a:t>/</a:t>
            </a:r>
            <a:r>
              <a:rPr lang="zh-CN" altLang="en-US" dirty="0"/>
              <a:t>目标），但在 </a:t>
            </a:r>
            <a:r>
              <a:rPr lang="en-US" altLang="zh-CN" dirty="0"/>
              <a:t>RL </a:t>
            </a:r>
            <a:r>
              <a:rPr lang="zh-CN" altLang="en-US" dirty="0"/>
              <a:t>后，模型学会了：</a:t>
            </a:r>
            <a:endParaRPr lang="en-US" altLang="zh-CN" dirty="0"/>
          </a:p>
          <a:p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dirty="0"/>
              <a:t>用“组件类型”（</a:t>
            </a:r>
            <a:r>
              <a:rPr lang="en-US" altLang="zh-CN" dirty="0"/>
              <a:t>component type</a:t>
            </a:r>
            <a:r>
              <a:rPr lang="zh-CN" altLang="en-US" dirty="0"/>
              <a:t>）描述；</a:t>
            </a:r>
            <a:endParaRPr lang="en-US" altLang="zh-CN" dirty="0"/>
          </a:p>
          <a:p>
            <a:r>
              <a:rPr lang="en-US" altLang="zh-CN" dirty="0">
                <a:solidFill>
                  <a:srgbClr val="292929"/>
                </a:solidFill>
                <a:latin typeface="Noto Serif" panose="02020600060500020200" pitchFamily="18" charset="0"/>
              </a:rPr>
              <a:t>• </a:t>
            </a:r>
            <a:r>
              <a:rPr lang="zh-CN" altLang="en-US" dirty="0"/>
              <a:t>用“元素状态”（如激活</a:t>
            </a:r>
            <a:r>
              <a:rPr lang="en-US" altLang="zh-CN" dirty="0"/>
              <a:t>/</a:t>
            </a:r>
            <a:r>
              <a:rPr lang="zh-CN" altLang="en-US" dirty="0"/>
              <a:t>未激活）描述；</a:t>
            </a:r>
            <a:endParaRPr lang="en-US" altLang="zh-CN" dirty="0"/>
          </a:p>
          <a:p>
            <a:r>
              <a:rPr lang="zh-CN" altLang="en-US" dirty="0"/>
              <a:t>等等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4511" cy="1325563"/>
          </a:xfrm>
        </p:spPr>
        <p:txBody>
          <a:bodyPr/>
          <a:lstStyle/>
          <a:p>
            <a:r>
              <a:rPr lang="en-US" altLang="zh-CN" dirty="0"/>
              <a:t>Disadvantages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0A59D-413B-E846-834B-74ED3297162D}" type="slidenum">
              <a:rPr lang="en-US" smtClean="0"/>
            </a:fld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838199" y="1808101"/>
            <a:ext cx="8865056" cy="1705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 err="1"/>
              <a:t>OmniParser</a:t>
            </a:r>
            <a:r>
              <a:rPr lang="en-US" altLang="zh-CN" dirty="0"/>
              <a:t>/</a:t>
            </a:r>
            <a:r>
              <a:rPr lang="zh-CN" altLang="en-US" dirty="0"/>
              <a:t>检测器可能会漏检小元素图标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/>
              <a:t>RL</a:t>
            </a:r>
            <a:r>
              <a:rPr lang="zh-CN" altLang="en-US" dirty="0"/>
              <a:t>奖励粗糙，对大框更友好，点在角落 </a:t>
            </a:r>
            <a:r>
              <a:rPr lang="en-US" altLang="zh-CN" dirty="0"/>
              <a:t>vs </a:t>
            </a:r>
            <a:r>
              <a:rPr lang="zh-CN" altLang="en-US" dirty="0"/>
              <a:t>点在中心都同分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3.   Instruction-as-Reasoning</a:t>
            </a:r>
            <a:r>
              <a:rPr lang="zh-CN" altLang="en-US" dirty="0"/>
              <a:t>中，</a:t>
            </a:r>
            <a:r>
              <a:rPr lang="en-US" altLang="zh-CN" dirty="0"/>
              <a:t>RL </a:t>
            </a:r>
            <a:r>
              <a:rPr lang="zh-CN" altLang="en-US" dirty="0"/>
              <a:t>会倾向于生成“更容易拿到 </a:t>
            </a:r>
            <a:r>
              <a:rPr lang="en-US" altLang="zh-CN" dirty="0"/>
              <a:t>reward </a:t>
            </a:r>
            <a:r>
              <a:rPr lang="zh-CN" altLang="en-US" dirty="0"/>
              <a:t>的文本模式”，但这些文本未必真实反映因果推理，可能可以加一些中间过程</a:t>
            </a:r>
            <a:r>
              <a:rPr lang="en-US" altLang="zh-CN" dirty="0"/>
              <a:t>reward?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5313</Words>
  <Application>WPS 演示</Application>
  <PresentationFormat>宽屏</PresentationFormat>
  <Paragraphs>235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Gill Sans MT</vt:lpstr>
      <vt:lpstr>等线</vt:lpstr>
      <vt:lpstr>Lucida Grande</vt:lpstr>
      <vt:lpstr>Noto Serif</vt:lpstr>
      <vt:lpstr>Segoe Print</vt:lpstr>
      <vt:lpstr>微软雅黑</vt:lpstr>
      <vt:lpstr>Arial Unicode MS</vt:lpstr>
      <vt:lpstr>华文中宋</vt:lpstr>
      <vt:lpstr>Calibri</vt:lpstr>
      <vt:lpstr>Office Theme</vt:lpstr>
      <vt:lpstr>PowerPoint 演示文稿</vt:lpstr>
      <vt:lpstr>Paper Card</vt:lpstr>
      <vt:lpstr>Background</vt:lpstr>
      <vt:lpstr>Background</vt:lpstr>
      <vt:lpstr>Background</vt:lpstr>
      <vt:lpstr>Method | Instruction Augmentation</vt:lpstr>
      <vt:lpstr>Method | Instruction-as-Reasoning</vt:lpstr>
      <vt:lpstr>Experiments | Baselines &amp; Dataset</vt:lpstr>
      <vt:lpstr>Experiments | Main Result</vt:lpstr>
      <vt:lpstr>Experiments | Main Result</vt:lpstr>
      <vt:lpstr>Experiments | Main Result</vt:lpstr>
      <vt:lpstr>Experiments | Main Result</vt:lpstr>
      <vt:lpstr>Experiments | Ablation</vt:lpstr>
      <vt:lpstr>Experiments | Ablation</vt:lpstr>
      <vt:lpstr>Experiments | Discussion</vt:lpstr>
      <vt:lpstr>Disadvantages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Xuan Li</dc:creator>
  <cp:lastModifiedBy>祖立争</cp:lastModifiedBy>
  <cp:revision>138</cp:revision>
  <dcterms:created xsi:type="dcterms:W3CDTF">2024-06-11T09:32:00Z</dcterms:created>
  <dcterms:modified xsi:type="dcterms:W3CDTF">2026-09-06T04:06:23Z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4D61EF2DE7BF4B73AA4F47EA18F80039_12</vt:lpwstr>
  </property>
  <property fmtid="{D5CDD505-2E9C-101B-9397-08002B2CF9AE}" pid="3" name="KSOProductBuildVer">
    <vt:lpwstr>2052-12.1.0.25225</vt:lpwstr>
  </property>
</Properties>
</file>